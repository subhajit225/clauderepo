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64008" cy="68580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Calibri"/>
              </a:rPr>
              <a:t>RUBRIK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MSP PayGo
Billing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  <a:latin typeface="Calibri"/>
              </a:rPr>
              <a:t>What's Already Built
vs.
What Needs to Be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  <a:latin typeface="Calibri"/>
              </a:rPr>
              <a:t>Visual guide ·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2801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Color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874519"/>
            <a:ext cx="457200" cy="594360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9280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85415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0E0"/>
                </a:solidFill>
                <a:latin typeface="Calibri"/>
              </a:rPr>
              <a:t>Already exists in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971800"/>
            <a:ext cx="457200" cy="5943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9900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Yellow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826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0E0"/>
                </a:solidFill>
                <a:latin typeface="Calibri"/>
              </a:rPr>
              <a:t>Exists — needs extension/modification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4069079"/>
            <a:ext cx="457200" cy="59436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08736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379975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0E0"/>
                </a:solidFill>
                <a:latin typeface="Calibri"/>
              </a:rPr>
              <a:t>Needs to be built from scratch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5166359"/>
            <a:ext cx="457200" cy="594360"/>
          </a:xfrm>
          <a:prstGeom prst="rect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518464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477255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0E0"/>
                </a:solidFill>
                <a:latin typeface="Calibri"/>
              </a:rPr>
              <a:t>External system (Snowflake / Engineering)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Four Systems That Make PayGo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Data flows left to right — each system has a distinct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  <a:latin typeface="Calibri"/>
              </a:rPr>
              <a:t>2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743200" cy="384048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E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4444"/>
                </a:solidFill>
                <a:latin typeface="Calibri"/>
              </a:rPr>
              <a:t>RSC
(Rubrik Security Cloud)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783080"/>
            <a:ext cx="2596896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D0E0"/>
                </a:solidFill>
                <a:latin typeface="Calibri"/>
              </a:rPr>
              <a:t>The actual product MSPs
use. Every backup, scan, and
protection event is logged.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2743200" cy="384048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188720"/>
            <a:ext cx="2743200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2801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9B5E8"/>
                </a:solidFill>
                <a:latin typeface="Calibri"/>
              </a:rPr>
              <a:t>Snowflake
(Data Warehouse)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1783080"/>
            <a:ext cx="2596896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D0E0"/>
                </a:solidFill>
                <a:latin typeface="Calibri"/>
              </a:rPr>
              <a:t>Stores all RSC usage logs.
Data engineers write SQL to
aggregate and calculate bills.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2743200" cy="384048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2743200" cy="73152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2801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72C6"/>
                </a:solidFill>
                <a:latin typeface="Calibri"/>
              </a:rPr>
              <a:t>Salesforce
(CRM + Billing CPQ)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783080"/>
            <a:ext cx="2596896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D0E0"/>
                </a:solidFill>
                <a:latin typeface="Calibri"/>
              </a:rPr>
              <a:t>Manages quotes, orders,
contracts, entitlements, and
overage opportunity records.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188720"/>
            <a:ext cx="2743200" cy="384048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188720"/>
            <a:ext cx="2743200" cy="7315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2801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8B57"/>
                </a:solidFill>
                <a:latin typeface="Calibri"/>
              </a:rPr>
              <a:t>NetSuite
(Finance / ERP)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1783080"/>
            <a:ext cx="2596896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D0E0"/>
                </a:solidFill>
                <a:latin typeface="Calibri"/>
              </a:rPr>
              <a:t>Generates and sends
the actual invoice to the
MSP every month.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2633472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072384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45566"/>
                </a:solidFill>
                <a:latin typeface="Calibri"/>
              </a:rPr>
              <a:t>Usage data
logs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633472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3072384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45566"/>
                </a:solidFill>
                <a:latin typeface="Calibri"/>
              </a:rPr>
              <a:t>Pre-calculated
overage data
(via Mulesoft)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633472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3072384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445566"/>
                </a:solidFill>
                <a:latin typeface="Calibri"/>
              </a:rPr>
              <a:t>Order data
(auto-sync)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5349240"/>
            <a:ext cx="4846320" cy="11430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5349240"/>
            <a:ext cx="48463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54223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Mulesoft — The Messenger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5806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  <a:latin typeface="Calibri"/>
              </a:rPr>
              <a:t>Mulesoft is middleware that moves pre-computed data from Snowflake into Salesforce via Platform Events. It also triggers the monthly billing batch job on the 26th of each month.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5349240"/>
            <a:ext cx="3200400" cy="11430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78240" y="5349240"/>
            <a:ext cx="3200400" cy="54864"/>
          </a:xfrm>
          <a:prstGeom prst="rect">
            <a:avLst/>
          </a:prstGeom>
          <a:solidFill>
            <a:srgbClr val="99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54223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944CC"/>
                </a:solidFill>
                <a:latin typeface="Calibri"/>
              </a:rPr>
              <a:t>Pacman (RSC Provisioning)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5806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  <a:latin typeface="Calibri"/>
              </a:rPr>
              <a:t>Engineering-owned system. When Salesforce says 'Order Accepted', Pacman sets up the MSP's RSC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Already Built: The Monthly Billing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Scale Utility runs this exact cycle in production today. PayGo reuses the same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  <a:latin typeface="Calibri"/>
              </a:rPr>
              <a:t>3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55"/>
                </a:solidFill>
                <a:latin typeface="Calibri"/>
              </a:rPr>
              <a:t>Every month on the 26th — FULLY AUTOMATED today for Scale Utility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" y="1508760"/>
            <a:ext cx="1755648" cy="123444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1508760"/>
            <a:ext cx="1755648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600200"/>
            <a:ext cx="16276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Mulesoft
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2194560"/>
            <a:ext cx="16276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26th of
every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0823" y="188366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31135" y="1508760"/>
            <a:ext cx="1755648" cy="123444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31135" y="1508760"/>
            <a:ext cx="1755648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95143" y="1600200"/>
            <a:ext cx="16276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Platform 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95143" y="2194560"/>
            <a:ext cx="16276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Scale_Utility_
Integration__e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4215" y="188366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7" y="1508760"/>
            <a:ext cx="1755648" cy="123444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7" y="1508760"/>
            <a:ext cx="1755648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8536" y="1600200"/>
            <a:ext cx="16276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SFDC Batch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8536" y="2194560"/>
            <a:ext cx="16276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ScaleUtilityOverage
BatchWithCLI.cls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7607" y="188366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19" y="1508760"/>
            <a:ext cx="1755648" cy="123444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19" y="1508760"/>
            <a:ext cx="1755648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7" y="1600200"/>
            <a:ext cx="16276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Snowflake
Feed 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7" y="2194560"/>
            <a:ext cx="16276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Snowflake_Feed__c
in Salesforce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0999" y="188366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11311" y="1508760"/>
            <a:ext cx="1755648" cy="123444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11311" y="1508760"/>
            <a:ext cx="1755648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1600200"/>
            <a:ext cx="16276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Overage
Records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2194560"/>
            <a:ext cx="16276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Scale_Utility_
Overage__c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4391" y="188366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04703" y="1508760"/>
            <a:ext cx="1755648" cy="123444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04703" y="1508760"/>
            <a:ext cx="1755648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68711" y="1600200"/>
            <a:ext cx="162763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Opp + Order
Auto-created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68711" y="2194560"/>
            <a:ext cx="16276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OverageOpportunity
Batch.cls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" y="2926080"/>
            <a:ext cx="1172260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299923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↓   Result lands here   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401568"/>
            <a:ext cx="2514600" cy="123444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3401568"/>
            <a:ext cx="2514600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" y="3493008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Payment Schedule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" y="4087368"/>
            <a:ext cx="2386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Payment_Schedule__c
with NS sync fields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08376" y="380390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3401568"/>
            <a:ext cx="2514600" cy="123444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91840" y="3401568"/>
            <a:ext cx="2514600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55848" y="3493008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NetSuite Sync Batch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55848" y="4087368"/>
            <a:ext cx="2386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Batch_SyncQueued
TaskToNetsuite.cls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3016" y="380390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3401568"/>
            <a:ext cx="2514600" cy="123444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80" y="3401568"/>
            <a:ext cx="2514600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0488" y="3493008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NetSuite
Billing Schedule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0488" y="4087368"/>
            <a:ext cx="2386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Auto-generated
in NetSuite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77655" y="380390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61120" y="3401568"/>
            <a:ext cx="2514600" cy="123444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61120" y="3401568"/>
            <a:ext cx="2514600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25128" y="3493008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Invoice sent
to MSP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25128" y="4087368"/>
            <a:ext cx="2386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NetSuite emails
invoice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7744" y="4892040"/>
            <a:ext cx="11722608" cy="169164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37744" y="4892040"/>
            <a:ext cx="11722608" cy="54864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9743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55"/>
                </a:solidFill>
                <a:latin typeface="Calibri"/>
              </a:rPr>
              <a:t>KEY FINDING: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1720" y="4974336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OverageOpportunityBatch.cls already reads CPQ_MSP_Overage__c and automatically creates Closed-Won Opportunities + Orders. This covers ~80% of what PayGo needs for its monthly overage billing cycle. The team extends this — they do not rebuild it.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77900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0E0"/>
                </a:solidFill>
                <a:latin typeface="Calibri"/>
              </a:rPr>
              <a:t>CPQ_MSP_Overage__c  ·  Payment_Schedule__c (with NS fields)  ·  Batch_SyncQueuedTaskToNetsuite.cls  —  all already live in the 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Salesforce: Stage-by-Stage — Built vs. To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The quote-to-cash pipeline inside Salesforce. Color = what work is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  <a:latin typeface="Calibri"/>
              </a:rPr>
              <a:t>4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201168" cy="20116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36422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0E0"/>
                </a:solidFill>
                <a:latin typeface="Calibri"/>
              </a:rPr>
              <a:t>Already Built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6355080"/>
            <a:ext cx="201168" cy="20116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636422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0E0"/>
                </a:solidFill>
                <a:latin typeface="Calibri"/>
              </a:rPr>
              <a:t>Extend / Modify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6355080"/>
            <a:ext cx="201168" cy="20116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636422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0E0"/>
                </a:solidFill>
                <a:latin typeface="Calibri"/>
              </a:rPr>
              <a:t>Build from Scratch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078992"/>
            <a:ext cx="1792224" cy="132588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1078992"/>
            <a:ext cx="1792224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170432"/>
            <a:ext cx="1664207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Opportunity
&amp; 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1812340"/>
            <a:ext cx="1664207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SFDC standard
Account + Opp objects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5688" y="1499616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9424" y="1078992"/>
            <a:ext cx="1792224" cy="132588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49424" y="1078992"/>
            <a:ext cx="1792224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13432" y="1170432"/>
            <a:ext cx="1664207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CPQ Quote
Basic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3432" y="1812340"/>
            <a:ext cx="1664207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existing CPQ
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1499616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2816" y="1078992"/>
            <a:ext cx="1792224" cy="132588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2816" y="1078992"/>
            <a:ext cx="1792224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06824" y="1170432"/>
            <a:ext cx="1664207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Rate Card
Setup in CPQ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6824" y="1812340"/>
            <a:ext cx="1664207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~21 SKUs,
A-D categories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62472" y="1499616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6208" y="1078992"/>
            <a:ext cx="1792224" cy="132588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6208" y="1078992"/>
            <a:ext cx="1792224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216" y="1170432"/>
            <a:ext cx="1664207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Ramp Quoting
(PayGo SKUs)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1812340"/>
            <a:ext cx="1664207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RS-PAYGO-C
&amp; RS-PAYGO-NC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55864" y="1499616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078992"/>
            <a:ext cx="1792224" cy="132588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1078992"/>
            <a:ext cx="1792224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3608" y="1170432"/>
            <a:ext cx="1664207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3-Level
Approval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1812340"/>
            <a:ext cx="1664207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by commitment
tier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9256" y="1499616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22992" y="1078992"/>
            <a:ext cx="1792224" cy="132588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22992" y="1078992"/>
            <a:ext cx="1792224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87000" y="1170432"/>
            <a:ext cx="1664207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Quote PDF
with Rate Card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7000" y="1812340"/>
            <a:ext cx="1664207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rate card table
+ legal terms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" y="2542032"/>
            <a:ext cx="11722608" cy="4572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0" y="261518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45566"/>
                </a:solidFill>
                <a:latin typeface="Calibri"/>
              </a:rPr>
              <a:t>Order  →  Entitlement  →  Billing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" y="2971800"/>
            <a:ext cx="1792224" cy="1325880"/>
          </a:xfrm>
          <a:prstGeom prst="rect">
            <a:avLst/>
          </a:prstGeom>
          <a:solidFill>
            <a:srgbClr val="26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6032" y="2971800"/>
            <a:ext cx="1792224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3063240"/>
            <a:ext cx="1664207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Order
Created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3705148"/>
            <a:ext cx="1664207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single-line
PayGo order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339242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49424" y="2971800"/>
            <a:ext cx="1792224" cy="1325880"/>
          </a:xfrm>
          <a:prstGeom prst="rect">
            <a:avLst/>
          </a:prstGeom>
          <a:solidFill>
            <a:srgbClr val="26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49424" y="2971800"/>
            <a:ext cx="1792224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13432" y="3063240"/>
            <a:ext cx="1664207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EDI / Glynt
PO Check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13432" y="3705148"/>
            <a:ext cx="1664207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exclude rate card
products from PO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69080" y="339242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42816" y="2971800"/>
            <a:ext cx="1792224" cy="132588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42816" y="2971800"/>
            <a:ext cx="1792224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06824" y="3063240"/>
            <a:ext cx="1664207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Auto
Entitlements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06824" y="3705148"/>
            <a:ext cx="1664207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qty 99,999
for all 21 products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62472" y="339242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36208" y="2971800"/>
            <a:ext cx="1792224" cy="132588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36208" y="2971800"/>
            <a:ext cx="1792224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0216" y="3063240"/>
            <a:ext cx="1664207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Pacman
Callout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0216" y="3705148"/>
            <a:ext cx="1664207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provision RSC
on Order Accepted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55864" y="339242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2971800"/>
            <a:ext cx="1792224" cy="1325880"/>
          </a:xfrm>
          <a:prstGeom prst="rect">
            <a:avLst/>
          </a:prstGeom>
          <a:solidFill>
            <a:srgbClr val="26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29600" y="2971800"/>
            <a:ext cx="1792224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93608" y="3063240"/>
            <a:ext cx="1664207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Overage
Records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93608" y="3705148"/>
            <a:ext cx="1664207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CPQ_MSP_Overage__c
extended for PayGo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49256" y="339242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22992" y="2971800"/>
            <a:ext cx="1792224" cy="1325880"/>
          </a:xfrm>
          <a:prstGeom prst="rect">
            <a:avLst/>
          </a:prstGeom>
          <a:solidFill>
            <a:srgbClr val="26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222992" y="2971800"/>
            <a:ext cx="1792224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287000" y="3063240"/>
            <a:ext cx="1664207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Opp + Order
Auto-created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87000" y="3705148"/>
            <a:ext cx="1664207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Closed-Won GC
OnDemand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248" y="24871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Outside Salesforce: Snowflake &amp; Engineering — Built vs. To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The computation, provisioning, and data pipelines that live outside Salesforce.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  <a:latin typeface="Calibri"/>
              </a:rPr>
              <a:t>5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201168" cy="20116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36422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0E0"/>
                </a:solidFill>
                <a:latin typeface="Calibri"/>
              </a:rPr>
              <a:t>Already Built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6355080"/>
            <a:ext cx="201168" cy="20116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636422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0E0"/>
                </a:solidFill>
                <a:latin typeface="Calibri"/>
              </a:rPr>
              <a:t>Extend / Modify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6355080"/>
            <a:ext cx="201168" cy="20116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636422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0E0"/>
                </a:solidFill>
                <a:latin typeface="Calibri"/>
              </a:rPr>
              <a:t>Build from Scratch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051560"/>
            <a:ext cx="5806440" cy="507492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1051560"/>
            <a:ext cx="5806440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09728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9B5E8"/>
                </a:solidFill>
                <a:latin typeface="Calibri"/>
              </a:rPr>
              <a:t>Snowflake / Data 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27632"/>
            <a:ext cx="2286000" cy="804672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627632"/>
            <a:ext cx="2286000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1719072"/>
            <a:ext cx="2157984" cy="37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RSC Usage
Logs arrive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2089952"/>
            <a:ext cx="2157984" cy="342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Raw data from
product telemetry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244144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78608"/>
            <a:ext cx="2286000" cy="804672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578608"/>
            <a:ext cx="2286000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2670048"/>
            <a:ext cx="2157984" cy="37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Scale Utility
Calc (existing)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3040928"/>
            <a:ext cx="2157984" cy="342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Existing aggregation
for SU billing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392423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29584"/>
            <a:ext cx="2286000" cy="804672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529584"/>
            <a:ext cx="2286000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" y="3621024"/>
            <a:ext cx="2157984" cy="37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PayGo
Consumption Calc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" y="3991904"/>
            <a:ext cx="2157984" cy="342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New: aggregate by MSP,
exclude POC, multiply
by rate card price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4343400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480560"/>
            <a:ext cx="2286000" cy="804672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480560"/>
            <a:ext cx="2286000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" y="4572000"/>
            <a:ext cx="2157984" cy="37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Compare vs
Commitment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" y="4942880"/>
            <a:ext cx="2157984" cy="342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New: overage amount
= usage − commit
(or $0 if no-commit)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294376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431536"/>
            <a:ext cx="2286000" cy="804672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431536"/>
            <a:ext cx="2286000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5522976"/>
            <a:ext cx="2157984" cy="37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Mulesoft push
to Salesforce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" y="5893856"/>
            <a:ext cx="2157984" cy="342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Send pre-calculated
overage to SFDC
Snowflake_Feed__c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1600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C00"/>
                </a:solidFill>
                <a:latin typeface="Calibri"/>
              </a:rPr>
              <a:t>Schema changes needed: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0360" y="1965960"/>
            <a:ext cx="2971800" cy="658368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360" y="1965960"/>
            <a:ext cx="2971800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44368" y="2057400"/>
            <a:ext cx="2843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Add contract_type column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80360" y="2770632"/>
            <a:ext cx="2971800" cy="658368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80360" y="2770632"/>
            <a:ext cx="2971800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44368" y="2862072"/>
            <a:ext cx="2843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Add marketing_name column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3575304"/>
            <a:ext cx="2971800" cy="658368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880360" y="3575304"/>
            <a:ext cx="2971800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44368" y="3666744"/>
            <a:ext cx="2843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Entitlement sync: SFDC→Snowflake→RSC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80360" y="4379976"/>
            <a:ext cx="2971800" cy="658368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80360" y="4379976"/>
            <a:ext cx="2971800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44368" y="4471416"/>
            <a:ext cx="2843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Monthly billing export file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80360" y="5184648"/>
            <a:ext cx="2971800" cy="658368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360" y="5184648"/>
            <a:ext cx="2971800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44368" y="5276088"/>
            <a:ext cx="28437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Distributor usage reports (pre-invoice)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1051560"/>
            <a:ext cx="5669280" cy="507492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63640" y="1051560"/>
            <a:ext cx="5669280" cy="64008"/>
          </a:xfrm>
          <a:prstGeom prst="rect">
            <a:avLst/>
          </a:prstGeom>
          <a:solidFill>
            <a:srgbClr val="99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109728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944CC"/>
                </a:solidFill>
                <a:latin typeface="Calibri"/>
              </a:rPr>
              <a:t>Engineering (RSC / Pacman)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46520" y="1600200"/>
            <a:ext cx="2377440" cy="86868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46520" y="1600200"/>
            <a:ext cx="2377440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10528" y="1691640"/>
            <a:ext cx="2249424" cy="404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Salesforce
Sends Callout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0528" y="2095804"/>
            <a:ext cx="224942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POST to Pacman
/provision_order API
(SFDC writes this)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79792" y="2478024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2651760"/>
            <a:ext cx="2377440" cy="86868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46520" y="2651760"/>
            <a:ext cx="2377440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10528" y="2743200"/>
            <a:ext cx="2249424" cy="404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Pacman
Receives Request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10528" y="3147364"/>
            <a:ext cx="224942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Parses order JSON
Validates MSP account
(Engineering builds)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79792" y="3529583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46520" y="3703320"/>
            <a:ext cx="2377440" cy="86868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46520" y="3703320"/>
            <a:ext cx="2377440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10528" y="3794759"/>
            <a:ext cx="2249424" cy="404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RSC Account
Provisioned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0528" y="4198924"/>
            <a:ext cx="224942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MSP can now use all
21 rate card products
in their RSC dashboard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79792" y="4581144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6520" y="4754880"/>
            <a:ext cx="2377440" cy="86868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46520" y="4754880"/>
            <a:ext cx="2377440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10528" y="4846320"/>
            <a:ext cx="2249424" cy="404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Entitlement
Sync to RSC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10528" y="5250484"/>
            <a:ext cx="224942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SFDC entitlements →
Snowflake → RSC
feature flags updated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0" y="1600200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Calibri"/>
              </a:rPr>
              <a:t>NetSuite (Finance)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52560" y="2011680"/>
            <a:ext cx="2697480" cy="100584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52560" y="2011680"/>
            <a:ext cx="2697480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16568" y="2103120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Auto Billing
Schedule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16568" y="2578608"/>
            <a:ext cx="2569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On SO fulfillment
(NetSuite config)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05288" y="303580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052560" y="3200400"/>
            <a:ext cx="2697480" cy="100584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052560" y="3200400"/>
            <a:ext cx="2697480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16568" y="3291840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Consolidated
Invoice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16568" y="3767328"/>
            <a:ext cx="2569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Monthly commit +
overage merged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05288" y="4224527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52560" y="4389120"/>
            <a:ext cx="2697480" cy="100584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052560" y="4389120"/>
            <a:ext cx="2697480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16568" y="4480560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Usage Detail
on Invoice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16568" y="4956048"/>
            <a:ext cx="2569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Line-level breakdown
for MSP transparency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End-to-End PayGo Flow — Future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The complete automated cycle once everything is built and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  <a:latin typeface="Calibri"/>
              </a:rPr>
              <a:t>6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DEAL TRACK  (happens once per MSP)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89888"/>
            <a:ext cx="1664208" cy="91440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89888"/>
            <a:ext cx="1664208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481328"/>
            <a:ext cx="153619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MSP
signs deal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645919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9696" y="1389888"/>
            <a:ext cx="1664208" cy="91440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39696" y="1389888"/>
            <a:ext cx="1664208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03703" y="1481328"/>
            <a:ext cx="153619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CPQ Quote
+ Rate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3703" y="1909267"/>
            <a:ext cx="1536192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PayGo SKU,
ramp,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1336" y="1645919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5072" y="1389888"/>
            <a:ext cx="1664208" cy="91440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05072" y="1389888"/>
            <a:ext cx="1664208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1481328"/>
            <a:ext cx="153619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Approval
(1/2/3 level)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1909267"/>
            <a:ext cx="1536192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auto-routed
by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1645919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70448" y="1389888"/>
            <a:ext cx="1664208" cy="914400"/>
          </a:xfrm>
          <a:prstGeom prst="rect">
            <a:avLst/>
          </a:prstGeom>
          <a:solidFill>
            <a:srgbClr val="26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70448" y="1389888"/>
            <a:ext cx="1664208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34456" y="1481328"/>
            <a:ext cx="153619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Order
Created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4456" y="1909267"/>
            <a:ext cx="1536192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single-line
PayGo order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1645919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35824" y="1389888"/>
            <a:ext cx="1664208" cy="91440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35824" y="1389888"/>
            <a:ext cx="1664208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99832" y="1481328"/>
            <a:ext cx="153619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Entitlements
auto-created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9832" y="1909267"/>
            <a:ext cx="1536192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21 products,
qty 99,999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7464" y="1645919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1389888"/>
            <a:ext cx="1664208" cy="91440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1200" y="1389888"/>
            <a:ext cx="1664208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65208" y="1481328"/>
            <a:ext cx="153619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Pacman
provisions RSC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65208" y="1909267"/>
            <a:ext cx="1536192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MSP goes live
in RSC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487168"/>
            <a:ext cx="11722608" cy="4572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560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MONTHLY BILLING TRACK  (automated every 26th)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907792"/>
            <a:ext cx="1664208" cy="91440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2907792"/>
            <a:ext cx="1664208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" y="2999232"/>
            <a:ext cx="153619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MSP uses
RSC product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" y="3427171"/>
            <a:ext cx="1536192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usage logged
automatically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316382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39696" y="2907792"/>
            <a:ext cx="1664208" cy="91440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139696" y="2907792"/>
            <a:ext cx="1664208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03703" y="2999232"/>
            <a:ext cx="153619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Snowflake
calculates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03703" y="3427171"/>
            <a:ext cx="1536192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usage × rate
vs commitment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31336" y="316382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05072" y="2907792"/>
            <a:ext cx="1664208" cy="91440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05072" y="2907792"/>
            <a:ext cx="1664208" cy="6400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69080" y="2999232"/>
            <a:ext cx="153619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Mulesoft
pushes 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9080" y="3427171"/>
            <a:ext cx="1536192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to Snowflake_
Feed__c in SFDC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96712" y="316382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0448" y="2907792"/>
            <a:ext cx="1664208" cy="914400"/>
          </a:xfrm>
          <a:prstGeom prst="rect">
            <a:avLst/>
          </a:prstGeom>
          <a:solidFill>
            <a:srgbClr val="26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870448" y="2907792"/>
            <a:ext cx="1664208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34456" y="2999232"/>
            <a:ext cx="153619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SFDC Batch
creates Opp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34456" y="3427171"/>
            <a:ext cx="1536192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Closed-Won GC
OnDemand auto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62088" y="316382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35824" y="2907792"/>
            <a:ext cx="1664208" cy="914400"/>
          </a:xfrm>
          <a:prstGeom prst="rect">
            <a:avLst/>
          </a:prstGeom>
          <a:solidFill>
            <a:srgbClr val="26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35824" y="2907792"/>
            <a:ext cx="1664208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99832" y="2999232"/>
            <a:ext cx="153619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NetSuite
invoices MSP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99832" y="3427171"/>
            <a:ext cx="1536192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commit + overage
monthly bill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27464" y="3163824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01200" y="2907792"/>
            <a:ext cx="1664208" cy="914400"/>
          </a:xfrm>
          <a:prstGeom prst="rect">
            <a:avLst/>
          </a:prstGeom>
          <a:solidFill>
            <a:srgbClr val="1E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601200" y="2907792"/>
            <a:ext cx="1664208" cy="64008"/>
          </a:xfrm>
          <a:prstGeom prst="rect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65208" y="2999232"/>
            <a:ext cx="153619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MSP pays
&amp; continues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65208" y="3427171"/>
            <a:ext cx="1536192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D0E0"/>
                </a:solidFill>
                <a:latin typeface="Calibri"/>
              </a:rPr>
              <a:t>cycle repeats
next month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023360"/>
            <a:ext cx="11722608" cy="36576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40782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C00"/>
                </a:solidFill>
                <a:latin typeface="Calibri"/>
              </a:rPr>
              <a:t>EXCEPTION TRACK  (when overage needs review before billing)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407408"/>
            <a:ext cx="2514600" cy="868680"/>
          </a:xfrm>
          <a:prstGeom prst="rect">
            <a:avLst/>
          </a:prstGeom>
          <a:solidFill>
            <a:srgbClr val="26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5760" y="4407408"/>
            <a:ext cx="2514600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9768" y="4498848"/>
            <a:ext cx="2386584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Overage
exceeds threshold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16936" y="4645152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136392" y="4407408"/>
            <a:ext cx="2514600" cy="86868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136392" y="4407408"/>
            <a:ext cx="2514600" cy="6400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00400" y="4498848"/>
            <a:ext cx="2386584" cy="404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SFDC Approval
Process fires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00400" y="4903012"/>
            <a:ext cx="23865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manager reviews
overage record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87568" y="4645152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07024" y="4407408"/>
            <a:ext cx="2514600" cy="868680"/>
          </a:xfrm>
          <a:prstGeom prst="rect">
            <a:avLst/>
          </a:prstGeom>
          <a:solidFill>
            <a:srgbClr val="26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907024" y="4407408"/>
            <a:ext cx="2514600" cy="640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71032" y="4498848"/>
            <a:ext cx="2386584" cy="404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Approved →
Opp auto-created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71032" y="4903012"/>
            <a:ext cx="23865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same Closed-Won
Opp + Order flow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58200" y="4645152"/>
            <a:ext cx="3474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677656" y="4407408"/>
            <a:ext cx="2514600" cy="868680"/>
          </a:xfrm>
          <a:prstGeom prst="rect">
            <a:avLst/>
          </a:prstGeom>
          <a:solidFill>
            <a:srgbClr val="1E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677656" y="4407408"/>
            <a:ext cx="2514600" cy="64008"/>
          </a:xfrm>
          <a:prstGeom prst="rect">
            <a:avLst/>
          </a:prstGeom>
          <a:solidFill>
            <a:srgbClr val="44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41664" y="4498848"/>
            <a:ext cx="2386584" cy="404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Rejected →
Review manually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41664" y="4903012"/>
            <a:ext cx="23865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0D0E0"/>
                </a:solidFill>
                <a:latin typeface="Calibri"/>
              </a:rPr>
              <a:t>CSM contacts
MSP for dispute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5486400"/>
            <a:ext cx="11722608" cy="11430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74320" y="5486400"/>
            <a:ext cx="11722608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55778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The entire monthly billing cycle is zero-touch once built: RSC logs usage → Snowflake calculates → Mulesoft pushes to Salesforce → Salesforce creates the Opportunity and Order → NetSuite sends the invoice. No manual intervention unless an overage dispute is raised.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Summary: What's Built vs. What Needs to Be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alibri"/>
              </a:rPr>
              <a:t>Across all four systems — by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  <a:latin typeface="Calibri"/>
              </a:rPr>
              <a:t>7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201168" cy="201168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36422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0E0"/>
                </a:solidFill>
                <a:latin typeface="Calibri"/>
              </a:rPr>
              <a:t>Already Built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6355080"/>
            <a:ext cx="201168" cy="20116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636422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0E0"/>
                </a:solidFill>
                <a:latin typeface="Calibri"/>
              </a:rPr>
              <a:t>Extend / Modify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6355080"/>
            <a:ext cx="201168" cy="20116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636422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0E0"/>
                </a:solidFill>
                <a:latin typeface="Calibri"/>
              </a:rPr>
              <a:t>Build from Scratch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051560"/>
            <a:ext cx="2926080" cy="420624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1051560"/>
            <a:ext cx="2926080" cy="6400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1097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2C6"/>
                </a:solidFill>
                <a:latin typeface="Calibri"/>
              </a:rPr>
              <a:t>Salesforce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1508760"/>
            <a:ext cx="2926080" cy="27432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1508760"/>
            <a:ext cx="2926080" cy="45720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" y="1536192"/>
            <a:ext cx="2779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55"/>
                </a:solidFill>
                <a:latin typeface="Calibri"/>
              </a:rPr>
              <a:t>ALREADY BUILT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1828800"/>
            <a:ext cx="128016" cy="128016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" y="181051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CPQ Quote 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" y="2176272"/>
            <a:ext cx="128016" cy="128016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215798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Order handlers (OrderHandler.cls)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" y="2523744"/>
            <a:ext cx="128016" cy="128016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250545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Basic Entitlement trigger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" y="2871216"/>
            <a:ext cx="128016" cy="128016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" y="285292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OverageOpportunityBatch.cls (~80% of billing)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" y="3218688"/>
            <a:ext cx="128016" cy="128016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3200400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CPQ_MSP_Overage__c object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" y="3566160"/>
            <a:ext cx="128016" cy="128016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354787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Payment_Schedule__c → NetSuite sync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" y="3913632"/>
            <a:ext cx="128016" cy="128016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" y="389534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EDI/Glynt integration base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4306824"/>
            <a:ext cx="2926080" cy="27432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4306824"/>
            <a:ext cx="2926080" cy="457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4343400"/>
            <a:ext cx="2779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000"/>
                </a:solidFill>
                <a:latin typeface="Calibri"/>
              </a:rPr>
              <a:t>NEEDS TO BE BUILT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" y="4626864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" y="460857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Rate Card object (versioned, ~21 SKUs)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" y="4974336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" y="495604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PayGo SKUs in CPQ (Commit + No-Commit)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" y="5321807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" y="5303520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3-level approval routing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9184" y="5669279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" y="565099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Quote PDF with rate card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" y="6016752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3776" y="599846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Auto-entitlements for 21 products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" y="6364223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" y="634593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Pacman HTTP callout on Order Accepted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" y="6711696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" y="669340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PayGo overage batch extension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1051560"/>
            <a:ext cx="2926080" cy="420624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91840" y="1051560"/>
            <a:ext cx="2926080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83280" y="1097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B5E8"/>
                </a:solidFill>
                <a:latin typeface="Calibri"/>
              </a:rPr>
              <a:t>Snowflake / Data Eng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91840" y="1508760"/>
            <a:ext cx="2926080" cy="27432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91840" y="1508760"/>
            <a:ext cx="2926080" cy="45720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64992" y="1536192"/>
            <a:ext cx="2779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55"/>
                </a:solidFill>
                <a:latin typeface="Calibri"/>
              </a:rPr>
              <a:t>ALREADY BUILT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64992" y="1828800"/>
            <a:ext cx="128016" cy="128016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29584" y="181051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Raw RSC usage data storage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64992" y="2176272"/>
            <a:ext cx="128016" cy="128016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29584" y="215798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Scale Utility aggregation (existing)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64992" y="2523744"/>
            <a:ext cx="128016" cy="128016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29584" y="250545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Snowflake_Feed__c schema (partial)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91840" y="2916936"/>
            <a:ext cx="2926080" cy="27432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91840" y="2916936"/>
            <a:ext cx="2926080" cy="457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64992" y="2953512"/>
            <a:ext cx="2779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000"/>
                </a:solidFill>
                <a:latin typeface="Calibri"/>
              </a:rPr>
              <a:t>NEEDS TO BE BUILT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64992" y="3236976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29584" y="321868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PayGo consumption calculation engine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64992" y="3584448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29584" y="3566160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Add contract_type &amp; marketing_name columns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64992" y="3931920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29584" y="391363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Entitlement sync: SFDC → Snowflake → RSC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64992" y="4279392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29584" y="426110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Monthly billing export file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64992" y="4626864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529584" y="460857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Distributor pre-invoice usage reports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27648" y="1051560"/>
            <a:ext cx="2926080" cy="420624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27648" y="1051560"/>
            <a:ext cx="2926080" cy="64008"/>
          </a:xfrm>
          <a:prstGeom prst="rect">
            <a:avLst/>
          </a:prstGeom>
          <a:solidFill>
            <a:srgbClr val="99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19088" y="1097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944CC"/>
                </a:solidFill>
                <a:latin typeface="Calibri"/>
              </a:rPr>
              <a:t>Engineering (RSC/Pacman)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27648" y="1508760"/>
            <a:ext cx="2926080" cy="27432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327648" y="1508760"/>
            <a:ext cx="2926080" cy="45720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00800" y="1536192"/>
            <a:ext cx="2779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55"/>
                </a:solidFill>
                <a:latin typeface="Calibri"/>
              </a:rPr>
              <a:t>ALREADY BUILT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1828800"/>
            <a:ext cx="128016" cy="128016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65392" y="181051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Pacman base provisioning system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00800" y="2176272"/>
            <a:ext cx="128016" cy="128016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565392" y="215798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RSC entitlement feature system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27648" y="2569463"/>
            <a:ext cx="2926080" cy="27432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27648" y="2569463"/>
            <a:ext cx="2926080" cy="457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0" y="2606039"/>
            <a:ext cx="2779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000"/>
                </a:solidFill>
                <a:latin typeface="Calibri"/>
              </a:rPr>
              <a:t>NEEDS TO BE BUILT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00800" y="2889503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65392" y="2871215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Pacman /provision_order API endpoint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00800" y="3236975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65392" y="3218687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RSC reads marketing_name per entitlement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00800" y="3584448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565392" y="3566159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RSC reads contract_type per entitlement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00800" y="3931920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65392" y="3913631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License termination for No-Commit non-pay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363456" y="1051560"/>
            <a:ext cx="2926080" cy="420624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363456" y="1051560"/>
            <a:ext cx="2926080" cy="640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454896" y="1097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8B57"/>
                </a:solidFill>
                <a:latin typeface="Calibri"/>
              </a:rPr>
              <a:t>NetSuite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363456" y="1508760"/>
            <a:ext cx="2926080" cy="274320"/>
          </a:xfrm>
          <a:prstGeom prst="rect">
            <a:avLst/>
          </a:prstGeom>
          <a:solidFill>
            <a:srgbClr val="04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363456" y="1508760"/>
            <a:ext cx="2926080" cy="45720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436608" y="1536192"/>
            <a:ext cx="2779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55"/>
                </a:solidFill>
                <a:latin typeface="Calibri"/>
              </a:rPr>
              <a:t>ALREADY BUILT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436608" y="1828800"/>
            <a:ext cx="128016" cy="128016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601200" y="181051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Basic billing schedule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436608" y="2176272"/>
            <a:ext cx="128016" cy="128016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601200" y="215798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Standard invoice generation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436608" y="2523744"/>
            <a:ext cx="128016" cy="128016"/>
          </a:xfrm>
          <a:prstGeom prst="rect">
            <a:avLst/>
          </a:prstGeom>
          <a:solidFill>
            <a:srgbClr val="00A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01200" y="250545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SFDC order data sync (via Payment_Schedule__c)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363456" y="2916936"/>
            <a:ext cx="2926080" cy="274320"/>
          </a:xfrm>
          <a:prstGeom prst="rect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363456" y="2916936"/>
            <a:ext cx="2926080" cy="457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436608" y="2953512"/>
            <a:ext cx="2779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000"/>
                </a:solidFill>
                <a:latin typeface="Calibri"/>
              </a:rPr>
              <a:t>NEEDS TO BE BUILT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436608" y="3236976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601200" y="321868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Auto-billing schedule on SO fulfillment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436608" y="3584448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01200" y="3566160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Consolidated invoice (commit + overage)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436608" y="3931920"/>
            <a:ext cx="128016" cy="12801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601200" y="3913632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Usage detail line items on invoice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