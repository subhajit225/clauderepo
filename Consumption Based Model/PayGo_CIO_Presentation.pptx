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06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0" y="0"/>
            <a:ext cx="73152" cy="685800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9436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4D8"/>
                </a:solidFill>
                <a:latin typeface="Calibri"/>
              </a:rPr>
              <a:t>RUBRIK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MSP PayGo
Billing Transformation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F4F8"/>
                </a:solidFill>
                <a:latin typeface="Calibri"/>
              </a:rPr>
              <a:t>Run Phase — Architecture &amp; Delivery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179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5566"/>
                </a:solidFill>
                <a:latin typeface="Calibri"/>
              </a:rPr>
              <a:t>April 2026  |  Presented to CIO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B4D8"/>
                </a:solidFill>
                <a:latin typeface="Calibri"/>
              </a:rPr>
              <a:t>70 → 170+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3852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F4F8"/>
                </a:solidFill>
                <a:latin typeface="Calibri"/>
              </a:rPr>
              <a:t>Revised story point estimate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2423160"/>
            <a:ext cx="2560320" cy="13716"/>
          </a:xfrm>
          <a:prstGeom prst="rect">
            <a:avLst/>
          </a:prstGeom>
          <a:solidFill>
            <a:srgbClr val="44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65176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B4D8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21868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F4F8"/>
                </a:solidFill>
                <a:latin typeface="Calibri"/>
              </a:rPr>
              <a:t>Engineering teams involved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3703320"/>
            <a:ext cx="2560320" cy="13716"/>
          </a:xfrm>
          <a:prstGeom prst="rect">
            <a:avLst/>
          </a:prstGeom>
          <a:solidFill>
            <a:srgbClr val="44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93192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B4D8"/>
                </a:solidFill>
                <a:latin typeface="Calibri"/>
              </a:rPr>
              <a:t>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49884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F4F8"/>
                </a:solidFill>
                <a:latin typeface="Calibri"/>
              </a:rPr>
              <a:t>Rate Card SKUs to configure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4983479"/>
            <a:ext cx="2560320" cy="13716"/>
          </a:xfrm>
          <a:prstGeom prst="rect">
            <a:avLst/>
          </a:prstGeom>
          <a:solidFill>
            <a:srgbClr val="44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5212079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B4D8"/>
                </a:solidFill>
                <a:latin typeface="Calibri"/>
              </a:rPr>
              <a:t>~26th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779007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F4F8"/>
                </a:solidFill>
                <a:latin typeface="Calibri"/>
              </a:rPr>
              <a:t>Monthly automated billing cycle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BUSINESS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5566"/>
                </a:solidFill>
                <a:latin typeface="Calibri"/>
              </a:rPr>
              <a:t>2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86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 Is PayGo?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577840" cy="3657600"/>
          </a:xfrm>
          <a:prstGeom prst="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5577840" cy="73152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72C6"/>
                </a:solidFill>
                <a:latin typeface="Calibri"/>
              </a:rPr>
              <a:t>PayGo Commit  (RS-PAYGO-C)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74519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  •  MSP commits to a minimum monthly spend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32887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  •  Pays actual usage if it exceeds the commitment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91256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  •  Provides revenue predictability for Rubrik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849624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  •  Unit price = $1, quantity = total commit amount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143000"/>
            <a:ext cx="5577840" cy="3657600"/>
          </a:xfrm>
          <a:prstGeom prst="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143000"/>
            <a:ext cx="557784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28016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  <a:latin typeface="Calibri"/>
              </a:rPr>
              <a:t>PayGo No-Commit  (RS-PAYGO-NC)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874519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  •  No minimum spend guaranteed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532887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  •  MSP pays exactly what they consume each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191256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  •  Zero reserve — pure consumption billing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849624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  •  Higher flexibility, lower predictability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5074920"/>
            <a:ext cx="12188952" cy="1508760"/>
          </a:xfrm>
          <a:prstGeom prst="rect">
            <a:avLst/>
          </a:prstGeom>
          <a:solidFill>
            <a:srgbClr val="06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16636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4F8"/>
                </a:solidFill>
                <a:latin typeface="Calibri"/>
              </a:rPr>
              <a:t>In both models the bill is driven by a Rate Card — a negotiated price list of ~21 products (cloud backup, ransomware protection, archival, etc.) organised into discount Categories A / B / C / 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EXISTING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5566"/>
                </a:solidFill>
                <a:latin typeface="Calibri"/>
              </a:rPr>
              <a:t>3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How the Systems Connect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011680"/>
            <a:ext cx="2286000" cy="1645920"/>
          </a:xfrm>
          <a:prstGeom prst="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2011680"/>
            <a:ext cx="228600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21488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B4D8"/>
                </a:solidFill>
                <a:latin typeface="Calibri"/>
              </a:rPr>
              <a:t>RSC
(Product)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92608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alibri"/>
              </a:rPr>
              <a:t>Usage data
generated here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2011680"/>
            <a:ext cx="2286000" cy="1645920"/>
          </a:xfrm>
          <a:prstGeom prst="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34640" y="2011680"/>
            <a:ext cx="2286000" cy="64008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21488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72C6"/>
                </a:solidFill>
                <a:latin typeface="Calibri"/>
              </a:rPr>
              <a:t>Snowflake
(Data Warehouse)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2608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alibri"/>
              </a:rPr>
              <a:t>Stores &amp; aggregates
all usage 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4960" y="2011680"/>
            <a:ext cx="2286000" cy="1645920"/>
          </a:xfrm>
          <a:prstGeom prst="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94960" y="2011680"/>
            <a:ext cx="2286000" cy="64008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0" y="21488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72C6"/>
                </a:solidFill>
                <a:latin typeface="Calibri"/>
              </a:rPr>
              <a:t>Salesforce
(CRM / CPQ)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292608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alibri"/>
              </a:rPr>
              <a:t>Quotes, Orders,
Contracts, Billing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55279" y="2011680"/>
            <a:ext cx="2286000" cy="1645920"/>
          </a:xfrm>
          <a:prstGeom prst="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55279" y="2011680"/>
            <a:ext cx="2286000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21488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8C00"/>
                </a:solidFill>
                <a:latin typeface="Calibri"/>
              </a:rPr>
              <a:t>NetSuite
(Finance / ERP)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9" y="292608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alibri"/>
              </a:rPr>
              <a:t>Invoices &amp;
payments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06040" y="2697480"/>
            <a:ext cx="182880" cy="54864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60320" y="257860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72C6"/>
                </a:solidFill>
                <a:latin typeface="Calibri"/>
              </a:rPr>
              <a:t>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2852928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445566"/>
                </a:solidFill>
                <a:latin typeface="Calibri"/>
              </a:rPr>
              <a:t>Usage logs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48072" y="2697480"/>
            <a:ext cx="182880" cy="54864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02352" y="257860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72C6"/>
                </a:solidFill>
                <a:latin typeface="Calibri"/>
              </a:rPr>
              <a:t>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73752" y="2852928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445566"/>
                </a:solidFill>
                <a:latin typeface="Calibri"/>
              </a:rPr>
              <a:t>via Mulesoft
(Platform Event)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90104" y="2697480"/>
            <a:ext cx="182880" cy="54864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44383" y="257860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72C6"/>
                </a:solidFill>
                <a:latin typeface="Calibri"/>
              </a:rPr>
              <a:t>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15783" y="2852928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445566"/>
                </a:solidFill>
                <a:latin typeface="Calibri"/>
              </a:rPr>
              <a:t>Order sync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0" y="3931920"/>
            <a:ext cx="3931920" cy="777240"/>
          </a:xfrm>
          <a:prstGeom prst="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14800" y="3931920"/>
            <a:ext cx="393192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06240" y="4005072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F4F8"/>
                </a:solidFill>
                <a:latin typeface="Calibri"/>
              </a:rPr>
              <a:t>Mulesoft = the messenger layer between Snowflake and Salesforce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9377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  <a:latin typeface="Calibri"/>
              </a:rPr>
              <a:t>A near-identical pipeline already exists for Scale Utility billing — PayGo reuses this proven pattern.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EXISTING BLUEPRINT — SCALE UTILITY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5566"/>
                </a:solidFill>
                <a:latin typeface="Calibri"/>
              </a:rPr>
              <a:t>4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We Already Have a Working Blueprint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2103120" cy="3474720"/>
          </a:xfrm>
          <a:prstGeom prst="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1234440"/>
            <a:ext cx="548640" cy="54864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21615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92024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  <a:latin typeface="Calibri"/>
              </a:rPr>
              <a:t>26th of every 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56032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alibri"/>
              </a:rPr>
              <a:t>Mulesoft sends a signal
to Salesforce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04872" y="24688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72C6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1143000"/>
            <a:ext cx="2103120" cy="3474720"/>
          </a:xfrm>
          <a:prstGeom prst="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9000" y="1234440"/>
            <a:ext cx="548640" cy="54864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121615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192024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  <a:latin typeface="Calibri"/>
              </a:rPr>
              <a:t>Salesforce reads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56032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alibri"/>
              </a:rPr>
              <a:t>Pulls pre-calculated usage
from Snowflake_Feed__c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24688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72C6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83479" y="1143000"/>
            <a:ext cx="2103120" cy="3474720"/>
          </a:xfrm>
          <a:prstGeom prst="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60719" y="1234440"/>
            <a:ext cx="548640" cy="54864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19" y="121615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19" y="192024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  <a:latin typeface="Calibri"/>
              </a:rPr>
              <a:t>Overage records created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19" y="256032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alibri"/>
              </a:rPr>
              <a:t>Salesforce computes
what each MSP owes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8311" y="24688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72C6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199" y="1143000"/>
            <a:ext cx="2103120" cy="3474720"/>
          </a:xfrm>
          <a:prstGeom prst="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92440" y="1234440"/>
            <a:ext cx="548640" cy="54864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92440" y="121615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192024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  <a:latin typeface="Calibri"/>
              </a:rPr>
              <a:t>Auto Opportunity + Order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256032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alibri"/>
              </a:rPr>
              <a:t>Salesforce creates a
Closed-Won deal automatically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24688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72C6"/>
                </a:solidFill>
                <a:latin typeface="Calibri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46919" y="1143000"/>
            <a:ext cx="2103120" cy="3474720"/>
          </a:xfrm>
          <a:prstGeom prst="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424159" y="1234440"/>
            <a:ext cx="548640" cy="54864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24159" y="121615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38359" y="192024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  <a:latin typeface="Calibri"/>
              </a:rPr>
              <a:t>NetSuite invoices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38359" y="256032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alibri"/>
              </a:rPr>
              <a:t>Order syncs to NetSuite
which sends the invoice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846320"/>
            <a:ext cx="11612880" cy="1691640"/>
          </a:xfrm>
          <a:prstGeom prst="rect">
            <a:avLst/>
          </a:prstGeom>
          <a:solidFill>
            <a:srgbClr val="06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49194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Calibri"/>
              </a:rPr>
              <a:t>What this means for PayGo: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534924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  •  OverageOpportunityBatch.cls already creates Closed-Won GC OnDemand Opps — ~80% of the overage requirement is built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696712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  •  CPQ_MSP_Overage__c object already exists for MSP overages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044183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  •  Payment_Schedule__c already syncs to NetSuite — the finance pipeline is established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DELIVERY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5566"/>
                </a:solidFill>
                <a:latin typeface="Calibri"/>
              </a:rPr>
              <a:t>5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 Needs to Be Built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5760720" cy="5394960"/>
          </a:xfrm>
          <a:prstGeom prst="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760720" cy="64008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72C6"/>
                </a:solidFill>
                <a:latin typeface="Calibri"/>
              </a:rPr>
              <a:t>IN Salesforce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719072"/>
            <a:ext cx="5440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  •  Rate Card object (~21 SKUs, versioned, A-D categories)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295144"/>
            <a:ext cx="5440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  •  Ramp quoting — PayGo Commit &amp; No-Commit SKUs in CPQ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871215"/>
            <a:ext cx="5440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  •  3-level approval routing by commitment tier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447288"/>
            <a:ext cx="5440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  •  Quote document template with rate card + legal terms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4023360"/>
            <a:ext cx="5440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  •  Auto-entitlements for all 21 products on order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4599431"/>
            <a:ext cx="5440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  •  Extend overage batch for PayGo naming &amp; logic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5175504"/>
            <a:ext cx="5440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  •  Callout to Pacman (provisioning) on Order Accepted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5751576"/>
            <a:ext cx="5440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  •  NetSuite sync extension for PayGo billing data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1097280"/>
            <a:ext cx="5760720" cy="5394960"/>
          </a:xfrm>
          <a:prstGeom prst="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1097280"/>
            <a:ext cx="576072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1170432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  <a:latin typeface="Calibri"/>
              </a:rPr>
              <a:t>IN Snowflake / Data Eng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719072"/>
            <a:ext cx="5440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  •  Monthly consumption calculation (CANNOT be in Apex — governor limits)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295144"/>
            <a:ext cx="5440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  •  Aggregate usage by MSP, group child accounts under parent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871215"/>
            <a:ext cx="5440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  •  Exclude POC and test accounts from billing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447288"/>
            <a:ext cx="5440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  •  Multiply usage × rate card price, compare vs commitment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023360"/>
            <a:ext cx="5440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  •  Add contract_type &amp; marketing_name columns to entitlement 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599431"/>
            <a:ext cx="5440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  •  Entitlement sync pipeline: Salesforce → Snowflake → RSC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175504"/>
            <a:ext cx="5440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  •  Monthly billing export file for Finance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751576"/>
            <a:ext cx="5440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  •  Pre-invoice usage reports to distributors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TEAM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5566"/>
                </a:solidFill>
                <a:latin typeface="Calibri"/>
              </a:rPr>
              <a:t>6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Who Builds What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760720" cy="2286000"/>
          </a:xfrm>
          <a:prstGeom prst="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5760720" cy="64008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98448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72C6"/>
                </a:solidFill>
                <a:latin typeface="Calibri"/>
              </a:rPr>
              <a:t>Salesforce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74519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Rate card CPQ config, quoting, approvals, order management, entitlement automation, overage batch extension, Pacman callout, NetSuite sync extension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5760720" cy="2286000"/>
          </a:xfrm>
          <a:prstGeom prst="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188720"/>
            <a:ext cx="576072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298448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  <a:latin typeface="Calibri"/>
              </a:rPr>
              <a:t>Data Engineering
(Snowflake)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874519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Consumption calculation engine, Snowflake schema changes (contract_type, marketing_name), entitlement sync pipeline, billing export file, distributor reports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794760"/>
            <a:ext cx="5760720" cy="2286000"/>
          </a:xfrm>
          <a:prstGeom prst="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794760"/>
            <a:ext cx="5760720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904488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8C00"/>
                </a:solidFill>
                <a:latin typeface="Calibri"/>
              </a:rPr>
              <a:t>Engineering
(RSC / Pacman)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480560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Pacman receives provisioning signals from Salesforce and sets up RSC accounts; RSC reads entitlement data for feature access control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794760"/>
            <a:ext cx="5760720" cy="2286000"/>
          </a:xfrm>
          <a:prstGeom prst="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794760"/>
            <a:ext cx="5760720" cy="64008"/>
          </a:xfrm>
          <a:prstGeom prst="rect">
            <a:avLst/>
          </a:prstGeom>
          <a:solidFill>
            <a:srgbClr val="A8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904488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8D8EA"/>
                </a:solidFill>
                <a:latin typeface="Calibri"/>
              </a:rPr>
              <a:t>NetSuite Admin
(Finance Team)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480560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Auto-billing schedule creation on SO fulfillment, consolidated invoice rules, usage detail fields on invoices — all NetSuite-native configuration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ESTIMATION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5566"/>
                </a:solidFill>
                <a:latin typeface="Calibri"/>
              </a:rPr>
              <a:t>7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Estimation: Original vs. Revised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3474720" cy="41148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161288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Workstream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39" y="1143000"/>
            <a:ext cx="1280160" cy="41148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94759" y="1161288"/>
            <a:ext cx="1188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Original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4920" y="1143000"/>
            <a:ext cx="1280160" cy="41148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1161288"/>
            <a:ext cx="1188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Revised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143000"/>
            <a:ext cx="5394960" cy="41148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16128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Key Reason for Change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600200"/>
            <a:ext cx="3474720" cy="475488"/>
          </a:xfrm>
          <a:prstGeom prst="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655064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Rate Card Configuration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39" y="1600200"/>
            <a:ext cx="1280160" cy="475488"/>
          </a:xfrm>
          <a:prstGeom prst="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94759" y="1655064"/>
            <a:ext cx="1188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alibri"/>
              </a:rPr>
              <a:t>S / 2 pts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74920" y="1600200"/>
            <a:ext cx="1280160" cy="475488"/>
          </a:xfrm>
          <a:prstGeom prst="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1655064"/>
            <a:ext cx="1188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B4D8"/>
                </a:solidFill>
                <a:latin typeface="Calibri"/>
              </a:rPr>
              <a:t>L / 8 pts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600200"/>
            <a:ext cx="5394960" cy="475488"/>
          </a:xfrm>
          <a:prstGeom prst="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165506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New versioned CPQ object, 21 SKUs, discount rules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103120"/>
            <a:ext cx="3474720" cy="475488"/>
          </a:xfrm>
          <a:prstGeom prst="rect">
            <a:avLst/>
          </a:prstGeom>
          <a:solidFill>
            <a:srgbClr val="0D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2157984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Quoting (CPQ)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49039" y="2103120"/>
            <a:ext cx="1280160" cy="475488"/>
          </a:xfrm>
          <a:prstGeom prst="rect">
            <a:avLst/>
          </a:prstGeom>
          <a:solidFill>
            <a:srgbClr val="0D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94759" y="2157984"/>
            <a:ext cx="1188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alibri"/>
              </a:rPr>
              <a:t>M / 4 pts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74920" y="2103120"/>
            <a:ext cx="1280160" cy="475488"/>
          </a:xfrm>
          <a:prstGeom prst="rect">
            <a:avLst/>
          </a:prstGeom>
          <a:solidFill>
            <a:srgbClr val="0D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20640" y="2157984"/>
            <a:ext cx="1188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B4D8"/>
                </a:solidFill>
                <a:latin typeface="Calibri"/>
              </a:rPr>
              <a:t>XL / 12+ pts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2103120"/>
            <a:ext cx="5394960" cy="475488"/>
          </a:xfrm>
          <a:prstGeom prst="rect">
            <a:avLst/>
          </a:prstGeom>
          <a:solidFill>
            <a:srgbClr val="0D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215798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Ramp quoting, 3-level approvals, SSP rules, quote doc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606040"/>
            <a:ext cx="3474720" cy="475488"/>
          </a:xfrm>
          <a:prstGeom prst="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2660904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Rating / Consumption Calc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49039" y="2606040"/>
            <a:ext cx="1280160" cy="475488"/>
          </a:xfrm>
          <a:prstGeom prst="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94759" y="2660904"/>
            <a:ext cx="1188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alibri"/>
              </a:rPr>
              <a:t>M / 4 pts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74920" y="2606040"/>
            <a:ext cx="1280160" cy="475488"/>
          </a:xfrm>
          <a:prstGeom prst="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20640" y="2660904"/>
            <a:ext cx="1188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B4D8"/>
                </a:solidFill>
                <a:latin typeface="Calibri"/>
              </a:rPr>
              <a:t>Snowflake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2606040"/>
            <a:ext cx="5394960" cy="475488"/>
          </a:xfrm>
          <a:prstGeom prst="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266090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Cannot be in Apex — governor limits; Snowflake owns this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3108960"/>
            <a:ext cx="3474720" cy="475488"/>
          </a:xfrm>
          <a:prstGeom prst="rect">
            <a:avLst/>
          </a:prstGeom>
          <a:solidFill>
            <a:srgbClr val="0D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3163824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Overages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49039" y="3108960"/>
            <a:ext cx="1280160" cy="475488"/>
          </a:xfrm>
          <a:prstGeom prst="rect">
            <a:avLst/>
          </a:prstGeom>
          <a:solidFill>
            <a:srgbClr val="0D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94759" y="3163824"/>
            <a:ext cx="1188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alibri"/>
              </a:rPr>
              <a:t>L / 8 pts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74920" y="3108960"/>
            <a:ext cx="1280160" cy="475488"/>
          </a:xfrm>
          <a:prstGeom prst="rect">
            <a:avLst/>
          </a:prstGeom>
          <a:solidFill>
            <a:srgbClr val="0D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20640" y="3163824"/>
            <a:ext cx="1188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B4D8"/>
                </a:solidFill>
                <a:latin typeface="Calibri"/>
              </a:rPr>
              <a:t>M+ / 6 pts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3108960"/>
            <a:ext cx="5394960" cy="475488"/>
          </a:xfrm>
          <a:prstGeom prst="rect">
            <a:avLst/>
          </a:prstGeom>
          <a:solidFill>
            <a:srgbClr val="0D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46520" y="316382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OverageOpportunityBatch already exists — extend, not rebuild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3611880"/>
            <a:ext cx="3474720" cy="475488"/>
          </a:xfrm>
          <a:prstGeom prst="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" y="3666744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Entitlement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749039" y="3611880"/>
            <a:ext cx="1280160" cy="475488"/>
          </a:xfrm>
          <a:prstGeom prst="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94759" y="3666744"/>
            <a:ext cx="1188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alibri"/>
              </a:rPr>
              <a:t>S / 2 pts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74920" y="3611880"/>
            <a:ext cx="1280160" cy="475488"/>
          </a:xfrm>
          <a:prstGeom prst="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120640" y="3666744"/>
            <a:ext cx="1188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B4D8"/>
                </a:solidFill>
                <a:latin typeface="Calibri"/>
              </a:rPr>
              <a:t>M / 4 pts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0" y="3611880"/>
            <a:ext cx="5394960" cy="475488"/>
          </a:xfrm>
          <a:prstGeom prst="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46520" y="366674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Auto-create 21 entitlements + propagation to existing customers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4114800"/>
            <a:ext cx="3474720" cy="475488"/>
          </a:xfrm>
          <a:prstGeom prst="rect">
            <a:avLst/>
          </a:prstGeom>
          <a:solidFill>
            <a:srgbClr val="0D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4169663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Rate Card Versioning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749039" y="4114800"/>
            <a:ext cx="1280160" cy="475488"/>
          </a:xfrm>
          <a:prstGeom prst="rect">
            <a:avLst/>
          </a:prstGeom>
          <a:solidFill>
            <a:srgbClr val="0D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794759" y="4169663"/>
            <a:ext cx="1188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alibri"/>
              </a:rPr>
              <a:t>M / 4 pts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074920" y="4114800"/>
            <a:ext cx="1280160" cy="475488"/>
          </a:xfrm>
          <a:prstGeom prst="rect">
            <a:avLst/>
          </a:prstGeom>
          <a:solidFill>
            <a:srgbClr val="0D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120640" y="4169663"/>
            <a:ext cx="1188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B4D8"/>
                </a:solidFill>
                <a:latin typeface="Calibri"/>
              </a:rPr>
              <a:t>L / 8 pts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00800" y="4114800"/>
            <a:ext cx="5394960" cy="475488"/>
          </a:xfrm>
          <a:prstGeom prst="rect">
            <a:avLst/>
          </a:prstGeom>
          <a:solidFill>
            <a:srgbClr val="0D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46520" y="4169663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Cross-object impact: quote, order, entitlement, amendments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4617720"/>
            <a:ext cx="3474720" cy="475488"/>
          </a:xfrm>
          <a:prstGeom prst="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0040" y="4672584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Amendments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749039" y="4617720"/>
            <a:ext cx="1280160" cy="475488"/>
          </a:xfrm>
          <a:prstGeom prst="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794759" y="4672584"/>
            <a:ext cx="1188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alibri"/>
              </a:rPr>
              <a:t>M / 4 pts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074920" y="4617720"/>
            <a:ext cx="1280160" cy="475488"/>
          </a:xfrm>
          <a:prstGeom prst="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120640" y="4672584"/>
            <a:ext cx="1188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B4D8"/>
                </a:solidFill>
                <a:latin typeface="Calibri"/>
              </a:rPr>
              <a:t>L / 8 pts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00800" y="4617720"/>
            <a:ext cx="5394960" cy="475488"/>
          </a:xfrm>
          <a:prstGeom prst="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46520" y="467258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Rate card interplay increases complexity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5120640"/>
            <a:ext cx="3474720" cy="475488"/>
          </a:xfrm>
          <a:prstGeom prst="rect">
            <a:avLst/>
          </a:prstGeom>
          <a:solidFill>
            <a:srgbClr val="3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20040" y="5175504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ENGG requirements (missing)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749039" y="5120640"/>
            <a:ext cx="1280160" cy="475488"/>
          </a:xfrm>
          <a:prstGeom prst="rect">
            <a:avLst/>
          </a:prstGeom>
          <a:solidFill>
            <a:srgbClr val="3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794759" y="5175504"/>
            <a:ext cx="1188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alibri"/>
              </a:rPr>
              <a:t>0 pts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074920" y="5120640"/>
            <a:ext cx="1280160" cy="475488"/>
          </a:xfrm>
          <a:prstGeom prst="rect">
            <a:avLst/>
          </a:prstGeom>
          <a:solidFill>
            <a:srgbClr val="3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120640" y="5175504"/>
            <a:ext cx="1188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B4D8"/>
                </a:solidFill>
                <a:latin typeface="Calibri"/>
              </a:rPr>
              <a:t>20-30 pts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00800" y="5120640"/>
            <a:ext cx="5394960" cy="475488"/>
          </a:xfrm>
          <a:prstGeom prst="rect">
            <a:avLst/>
          </a:prstGeom>
          <a:solidFill>
            <a:srgbClr val="3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46520" y="517550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ENGG-01–12 are P0 Must-Have — completely absent from estimate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4320" y="5623560"/>
            <a:ext cx="3474720" cy="475488"/>
          </a:xfrm>
          <a:prstGeom prst="rect">
            <a:avLst/>
          </a:prstGeom>
          <a:solidFill>
            <a:srgbClr val="3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20040" y="5678424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Snowflake scope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749039" y="5623560"/>
            <a:ext cx="1280160" cy="475488"/>
          </a:xfrm>
          <a:prstGeom prst="rect">
            <a:avLst/>
          </a:prstGeom>
          <a:solidFill>
            <a:srgbClr val="3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794759" y="5678424"/>
            <a:ext cx="1188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8"/>
                </a:solidFill>
                <a:latin typeface="Calibri"/>
              </a:rPr>
              <a:t>8 pts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074920" y="5623560"/>
            <a:ext cx="1280160" cy="475488"/>
          </a:xfrm>
          <a:prstGeom prst="rect">
            <a:avLst/>
          </a:prstGeom>
          <a:solidFill>
            <a:srgbClr val="3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120640" y="5678424"/>
            <a:ext cx="1188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B4D8"/>
                </a:solidFill>
                <a:latin typeface="Calibri"/>
              </a:rPr>
              <a:t>25-35 pts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400800" y="5623560"/>
            <a:ext cx="5394960" cy="475488"/>
          </a:xfrm>
          <a:prstGeom prst="rect">
            <a:avLst/>
          </a:prstGeom>
          <a:solidFill>
            <a:srgbClr val="3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446520" y="567842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Schema changes, sync pipeline, billing export all missing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74320" y="626364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8C00"/>
                </a:solidFill>
                <a:latin typeface="Calibri"/>
              </a:rPr>
              <a:t>Total: ~70 pts  →  137–173 pts  (2.0–2.5× original)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RISKS &amp;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5566"/>
                </a:solidFill>
                <a:latin typeface="Calibri"/>
              </a:rPr>
              <a:t>8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Key Risks &amp; Recommendations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11612880" cy="1234440"/>
          </a:xfrm>
          <a:prstGeom prst="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73152" cy="12344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20700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C00"/>
                </a:solidFill>
                <a:latin typeface="Calibri"/>
              </a:rPr>
              <a:t>RISK — Billing Calculation in Apex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618488"/>
            <a:ext cx="11109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The existing Scale Utility batch already runs at batch size=1 due to Salesforce CPU limits. PayGo has ~20 products × multiple URLs × hundreds of MSPs. Building the consumption calculation in Salesforce Apex WILL fail in production.   ✓ Recommendation: Snowflake owns all calculation.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514600"/>
            <a:ext cx="11612880" cy="1234440"/>
          </a:xfrm>
          <a:prstGeom prst="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514600"/>
            <a:ext cx="73152" cy="12344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257860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C00"/>
                </a:solidFill>
                <a:latin typeface="Calibri"/>
              </a:rPr>
              <a:t>RISK — Rebuilding Instead of Extending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2990088"/>
            <a:ext cx="11109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OverageOpportunityBatch.cls and CPQ_MSP_Overage__c already implement ~80% of the overage requirement. Building a parallel system wastes 4-6 weeks and creates duplicate debt.   ✓ Recommendation: Extend existing code.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886200"/>
            <a:ext cx="11612880" cy="1234440"/>
          </a:xfrm>
          <a:prstGeom prst="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886200"/>
            <a:ext cx="73152" cy="12344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395020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0000"/>
                </a:solidFill>
                <a:latin typeface="Calibri"/>
              </a:rPr>
              <a:t>RISK — Unbudgeted Engineering Scope (ENGG-01–12)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4361688"/>
            <a:ext cx="11109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12 P0 Must-Have Engineering requirements (Pacman provisioning, Snowflake schema, RSC sync, billing export) are completely absent from the 70-point estimate. Without these, SFDC ships but the product cannot be provisioned or billed.   ✓ Recommendation: Create separate Engineering &amp; Data Eng budget immediately.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5257800"/>
            <a:ext cx="11612880" cy="1234440"/>
          </a:xfrm>
          <a:prstGeom prst="rect">
            <a:avLst/>
          </a:prstGeom>
          <a:solidFill>
            <a:srgbClr val="10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5257800"/>
            <a:ext cx="73152" cy="12344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532180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0000"/>
                </a:solidFill>
                <a:latin typeface="Calibri"/>
              </a:rPr>
              <a:t>RISK — NetSuite Treated as SFDC Responsibility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" y="5733288"/>
            <a:ext cx="11109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Invoice generation, billing schedules, and consolidated invoices are NetSuite-native. Payment_Schedule__c sync already exists precisely because billing lives in NetSuite. ✓ Recommendation: NetSuite Admin team owns INV-01/02/03; Salesforce only sends order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